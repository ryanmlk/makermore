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elegraf" panose="020B0604020202020204" charset="0"/>
      <p:regular r:id="rId9"/>
    </p:embeddedFont>
    <p:embeddedFont>
      <p:font typeface="Telegraf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F44"/>
    <a:srgbClr val="163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F4F9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16019" y="1324074"/>
            <a:ext cx="11085613" cy="4781550"/>
            <a:chOff x="0" y="0"/>
            <a:chExt cx="14780817" cy="6375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4780817" cy="5200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900"/>
                </a:lnSpc>
              </a:pPr>
              <a:r>
                <a:rPr lang="en-US" sz="9000" b="1" spc="-89">
                  <a:solidFill>
                    <a:srgbClr val="F0F7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AML 3103</a:t>
              </a:r>
            </a:p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F0F7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Neural Networks and Deep Learning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4780817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F0F7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Mid-Project Update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7524750"/>
            <a:ext cx="8324850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1E2FD"/>
                </a:solidFill>
                <a:latin typeface="Telegraf"/>
                <a:ea typeface="Telegraf"/>
                <a:cs typeface="Telegraf"/>
                <a:sym typeface="Telegraf"/>
              </a:rPr>
              <a:t>Presented by :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1E2FD"/>
                </a:solidFill>
                <a:latin typeface="Telegraf"/>
                <a:ea typeface="Telegraf"/>
                <a:cs typeface="Telegraf"/>
                <a:sym typeface="Telegraf"/>
              </a:rPr>
              <a:t>Ryan - c0946432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1E2FD"/>
                </a:solidFill>
                <a:latin typeface="Telegraf"/>
                <a:ea typeface="Telegraf"/>
                <a:cs typeface="Telegraf"/>
                <a:sym typeface="Telegraf"/>
              </a:rPr>
              <a:t>Eduardo - c0943861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1E2FD"/>
                </a:solidFill>
                <a:latin typeface="Telegraf"/>
                <a:ea typeface="Telegraf"/>
                <a:cs typeface="Telegraf"/>
                <a:sym typeface="Telegraf"/>
              </a:rPr>
              <a:t>Hetvi - c0954042</a:t>
            </a:r>
          </a:p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1E2FD"/>
                </a:solidFill>
                <a:latin typeface="Telegraf"/>
                <a:ea typeface="Telegraf"/>
                <a:cs typeface="Telegraf"/>
                <a:sym typeface="Telegraf"/>
              </a:rPr>
              <a:t>Sandhya - c0956298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0F7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Dataset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702679"/>
            <a:ext cx="8324850" cy="1996071"/>
            <a:chOff x="0" y="-19050"/>
            <a:chExt cx="11099800" cy="2661429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10998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Names Count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5796"/>
              <a:ext cx="11099800" cy="1876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initially worked with ~6,779 names and later expanded the dataset to ~30,000 names.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 larger corpus helps the model see more spelling patterns and improves generalization when generating new names.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4009168"/>
            <a:ext cx="8324850" cy="1636999"/>
            <a:chOff x="0" y="-19050"/>
            <a:chExt cx="11099800" cy="2182666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10998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Data Preprocessing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5797"/>
              <a:ext cx="11099800" cy="1397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Names are treated as lowercase character sequences.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focus on the letters a–z and map everything into a clean character-level representation for modeling.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07286" y="6956585"/>
            <a:ext cx="8324850" cy="1284723"/>
            <a:chOff x="0" y="-19050"/>
            <a:chExt cx="11099800" cy="171296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Character Set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5797"/>
              <a:ext cx="11099800" cy="9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Our vocabulary has 27 symbols: the 26 lowercase letters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a–z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plus a special 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"."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token that marks the start/end of a name.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291D6D-9570-FCC9-425F-F6243249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78620"/>
            <a:ext cx="7924800" cy="3716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394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700"/>
              </a:lnSpc>
            </a:pPr>
            <a:r>
              <a:rPr lang="en-US" sz="7000" dirty="0">
                <a:solidFill>
                  <a:schemeClr val="bg1"/>
                </a:solidFill>
                <a:latin typeface="Telegraf Bold" panose="020B0604020202020204" charset="0"/>
              </a:rPr>
              <a:t>Context Encoding (Input–Target Pairs)</a:t>
            </a:r>
            <a:endParaRPr lang="en-US" sz="7000" b="1" u="none" strike="noStrike" spc="-70" dirty="0">
              <a:solidFill>
                <a:schemeClr val="bg1"/>
              </a:solidFill>
              <a:latin typeface="Telegraf Bold" panose="020B0604020202020204" charset="0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96400" y="886512"/>
            <a:ext cx="8324850" cy="1637000"/>
            <a:chOff x="0" y="-19050"/>
            <a:chExt cx="11099800" cy="2182666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1099800" cy="56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00"/>
                </a:lnSpc>
              </a:pPr>
              <a:r>
                <a:rPr lang="en-US" sz="3000" dirty="0">
                  <a:solidFill>
                    <a:schemeClr val="bg1"/>
                  </a:solidFill>
                  <a:latin typeface="Telegraf Bold" panose="020B0604020202020204" charset="0"/>
                </a:rPr>
                <a:t>Context Windowing</a:t>
              </a:r>
              <a:endParaRPr lang="en-US" sz="3000" b="1" spc="-30" dirty="0">
                <a:solidFill>
                  <a:schemeClr val="bg1"/>
                </a:solidFill>
                <a:latin typeface="Telegraf Bold" panose="020B0604020202020204" charset="0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5797"/>
              <a:ext cx="11099800" cy="1397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use a context window of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3 characters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For each position in a name, the previous 3 characters form the input, and the next character is the target label.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5336894"/>
            <a:ext cx="8324850" cy="1643796"/>
            <a:chOff x="0" y="-19050"/>
            <a:chExt cx="11099800" cy="2191727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1099800" cy="56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Telegraf Bold" panose="020B0604020202020204" charset="0"/>
                </a:rPr>
                <a:t>Train / Dev / Test Split</a:t>
              </a:r>
              <a:endParaRPr lang="en-US" sz="3000" b="1" spc="-30" dirty="0">
                <a:solidFill>
                  <a:schemeClr val="bg1"/>
                </a:solidFill>
                <a:latin typeface="Telegraf Bold" panose="020B0604020202020204" charset="0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5796"/>
              <a:ext cx="11099800" cy="1406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shuffle the names and split them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80% / 10% / 10%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For each split, we build 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(X, Y)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tensors, giving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Xtr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,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Ytr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Xdev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,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Ydev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 and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Xte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, </a:t>
              </a:r>
              <a:r>
                <a:rPr lang="en-US" dirty="0" err="1">
                  <a:solidFill>
                    <a:schemeClr val="bg1"/>
                  </a:solidFill>
                  <a:latin typeface="Telegraf Bold" panose="020B0604020202020204" charset="0"/>
                </a:rPr>
                <a:t>Yte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7385948"/>
            <a:ext cx="8324850" cy="1643796"/>
            <a:chOff x="0" y="-19050"/>
            <a:chExt cx="11099800" cy="21917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Why Context Helps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5797"/>
              <a:ext cx="11099800" cy="1406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This context-based encoding lets the model learn short-range dependencies between characters instead of predicting each letter independently.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3273F28D-0487-C17B-0C47-2DF1F6995389}"/>
              </a:ext>
            </a:extLst>
          </p:cNvPr>
          <p:cNvGrpSpPr/>
          <p:nvPr/>
        </p:nvGrpSpPr>
        <p:grpSpPr>
          <a:xfrm>
            <a:off x="9323614" y="2928769"/>
            <a:ext cx="8324850" cy="2002868"/>
            <a:chOff x="0" y="-19050"/>
            <a:chExt cx="11099800" cy="2670491"/>
          </a:xfrm>
        </p:grpSpPr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42562A5D-18A0-59F0-7F21-AFEE96B231E7}"/>
                </a:ext>
              </a:extLst>
            </p:cNvPr>
            <p:cNvSpPr txBox="1"/>
            <p:nvPr/>
          </p:nvSpPr>
          <p:spPr>
            <a:xfrm>
              <a:off x="0" y="-19050"/>
              <a:ext cx="11099800" cy="56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Telegraf Bold" panose="020B0604020202020204" charset="0"/>
                </a:rPr>
                <a:t>Encoded Dataset Size</a:t>
              </a:r>
              <a:endParaRPr lang="en-US" sz="3000" b="1" spc="-30" dirty="0">
                <a:solidFill>
                  <a:schemeClr val="bg1"/>
                </a:solidFill>
                <a:latin typeface="Telegraf Bold" panose="020B0604020202020204" charset="0"/>
                <a:ea typeface="Telegraf Bold"/>
                <a:cs typeface="Telegraf Bold"/>
                <a:sym typeface="Telegraf Bold"/>
              </a:endParaRPr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FEB9A74A-F15D-6EF6-3CEF-FA89EFE34E7F}"/>
                </a:ext>
              </a:extLst>
            </p:cNvPr>
            <p:cNvSpPr txBox="1"/>
            <p:nvPr/>
          </p:nvSpPr>
          <p:spPr>
            <a:xfrm>
              <a:off x="0" y="765797"/>
              <a:ext cx="11099800" cy="1885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After encoding the ~30,000 names, we obtain around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199k (input, target) pairs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Each input has shape 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(3,)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(three character indices), and each target is a single index.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C062F4E-817A-2A01-637D-1068C6818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79" y="6092820"/>
            <a:ext cx="7385906" cy="1881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15062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0F7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Neural Network Model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9742" y="2476500"/>
            <a:ext cx="5427383" cy="1985741"/>
            <a:chOff x="0" y="-9525"/>
            <a:chExt cx="7236511" cy="2647656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Embeddings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1885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Each character is mapped to a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10-dimensional embedding vector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 allowing the model to learn relationships between characters.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39070" y="4882682"/>
            <a:ext cx="5429080" cy="1619872"/>
            <a:chOff x="0" y="-9525"/>
            <a:chExt cx="7238774" cy="215983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Tanh Activation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1397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 Tanh activation introduces non-linearity, allowing the network to learn richer patterns over character sequences.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76500"/>
            <a:ext cx="5429080" cy="1626669"/>
            <a:chOff x="0" y="-9525"/>
            <a:chExt cx="7238774" cy="216889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Context Size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1406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use a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context window of 3 characters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 so the network sees the last 3 characters when predicting the next one.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7714492"/>
            <a:ext cx="5429080" cy="1494838"/>
            <a:chOff x="0" y="-9525"/>
            <a:chExt cx="7238774" cy="199311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Output Logits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 model predicts logits, which are converted to probabilities using </a:t>
              </a:r>
              <a:r>
                <a:rPr lang="en-US" sz="2000" dirty="0" err="1">
                  <a:solidFill>
                    <a:schemeClr val="bg1"/>
                  </a:solidFill>
                  <a:latin typeface="Telegraf Bold" panose="020B0604020202020204" charset="0"/>
                </a:rPr>
                <a:t>softmax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during loss computation.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1693" y="4879283"/>
            <a:ext cx="5424446" cy="2418167"/>
            <a:chOff x="0" y="-9525"/>
            <a:chExt cx="7232595" cy="322422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2595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MLP Structure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2595" cy="246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Our model is a 2-layer MLP with: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• Input: </a:t>
              </a:r>
              <a:r>
                <a:rPr lang="en-US" dirty="0">
                  <a:solidFill>
                    <a:schemeClr val="bg1"/>
                  </a:solidFill>
                  <a:latin typeface="Telegraf Bold" panose="020B0604020202020204" charset="0"/>
                </a:rPr>
                <a:t>3 × 10 = 30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-dim vector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• Hidden layer: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200 neurons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with Tanh activation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• Output: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27 logits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(one per character in the vocabulary)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F149B6-DE64-07B7-164B-CBD2B13F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493" y="2150356"/>
            <a:ext cx="6381750" cy="627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0F7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Training the MLP Model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452467"/>
            <a:ext cx="8324850" cy="1179159"/>
            <a:chOff x="0" y="-285710"/>
            <a:chExt cx="11099800" cy="1572212"/>
          </a:xfrm>
        </p:grpSpPr>
        <p:sp>
          <p:nvSpPr>
            <p:cNvPr id="4" name="TextBox 4"/>
            <p:cNvSpPr txBox="1"/>
            <p:nvPr/>
          </p:nvSpPr>
          <p:spPr>
            <a:xfrm>
              <a:off x="0" y="-285710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Cross-entropy Loss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8385"/>
              <a:ext cx="11099800" cy="9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use cross-entropy loss to compare the predicted logits against the true next-character label.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1872595"/>
            <a:ext cx="8324850" cy="1289705"/>
            <a:chOff x="0" y="-9525"/>
            <a:chExt cx="11099800" cy="1421161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Mini-batch SGD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83519"/>
              <a:ext cx="11099800" cy="92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train using mini-batches (size 32 in our code), which makes training faster and more stable than full-batch updates.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3178906"/>
            <a:ext cx="8329766" cy="2650394"/>
            <a:chOff x="0" y="-322319"/>
            <a:chExt cx="11106355" cy="292054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22319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Learning 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55" y="233816"/>
              <a:ext cx="11099800" cy="2364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started with a learning rate of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0.1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for rapid early learning,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then reduced it to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0.01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once the loss began to plateau.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With the larger ~30k-name dataset, the smaller learning rate helped stabilize training and avoid overshooting while still converging.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08690" y="5690474"/>
            <a:ext cx="8324850" cy="1775641"/>
            <a:chOff x="0" y="-38100"/>
            <a:chExt cx="11099800" cy="195662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595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Loss Decreases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20710"/>
              <a:ext cx="11099800" cy="1397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 training loss decreases steadily over ~200k steps, and the dev loss stays close to the train loss, confirming that the model is learning meaningful name patterns without severe overfitting.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FFCBFE-F059-F742-F78E-62B8CBDEF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00" y="3484292"/>
            <a:ext cx="6867354" cy="5046650"/>
          </a:xfrm>
          <a:prstGeom prst="rect">
            <a:avLst/>
          </a:prstGeom>
        </p:spPr>
      </p:pic>
      <p:grpSp>
        <p:nvGrpSpPr>
          <p:cNvPr id="17" name="Group 12">
            <a:extLst>
              <a:ext uri="{FF2B5EF4-FFF2-40B4-BE49-F238E27FC236}">
                <a16:creationId xmlns:a16="http://schemas.microsoft.com/office/drawing/2014/main" id="{2B8444BF-B936-BAD7-A100-B2BB4A3A6A21}"/>
              </a:ext>
            </a:extLst>
          </p:cNvPr>
          <p:cNvGrpSpPr/>
          <p:nvPr/>
        </p:nvGrpSpPr>
        <p:grpSpPr>
          <a:xfrm>
            <a:off x="9308690" y="7505700"/>
            <a:ext cx="8324850" cy="1921354"/>
            <a:chOff x="0" y="-38100"/>
            <a:chExt cx="11099800" cy="2117194"/>
          </a:xfrm>
        </p:grpSpPr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C6056636-671A-2DA9-2201-B33E86158AC0}"/>
                </a:ext>
              </a:extLst>
            </p:cNvPr>
            <p:cNvSpPr txBox="1"/>
            <p:nvPr/>
          </p:nvSpPr>
          <p:spPr>
            <a:xfrm>
              <a:off x="0" y="-38100"/>
              <a:ext cx="11099800" cy="508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554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</a:rPr>
                <a:t>Activation Diagnostics</a:t>
              </a:r>
              <a:endParaRPr lang="en-US" sz="2962" b="1" spc="-29" dirty="0">
                <a:solidFill>
                  <a:schemeClr val="bg1"/>
                </a:solidFill>
                <a:latin typeface="Telegraf Bold" panose="020B0604020202020204" charset="0"/>
                <a:sym typeface="Telegraf Bold"/>
              </a:endParaRPr>
            </a:p>
          </p:txBody>
        </p:sp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7AAB84BF-20F7-A603-A759-4E4020D20D06}"/>
                </a:ext>
              </a:extLst>
            </p:cNvPr>
            <p:cNvSpPr txBox="1"/>
            <p:nvPr/>
          </p:nvSpPr>
          <p:spPr>
            <a:xfrm>
              <a:off x="0" y="520710"/>
              <a:ext cx="11099800" cy="1558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visualized the histograms of the Tanh activations. Initially, we observed "saturation" (peaks at -1 and 1), which causes the vanishing gradient problem. This required fixing our weight initialization.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sym typeface="Telegraf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6752695" cy="9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700"/>
              </a:lnSpc>
            </a:pPr>
            <a:r>
              <a:rPr lang="en-US" sz="5400" b="1" u="none" strike="noStrike" spc="-70" dirty="0">
                <a:solidFill>
                  <a:srgbClr val="F0F7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Part 3: </a:t>
            </a:r>
            <a:r>
              <a:rPr lang="en-US" sz="5400" b="1" spc="-70" dirty="0">
                <a:solidFill>
                  <a:srgbClr val="F0F7FF"/>
                </a:solidFill>
                <a:latin typeface="Telegraf Bold"/>
              </a:rPr>
              <a:t>Optimization &amp; Network Dynamics</a:t>
            </a:r>
            <a:endParaRPr lang="en-US" sz="5400" b="1" spc="-70" dirty="0">
              <a:solidFill>
                <a:srgbClr val="F0F7FF"/>
              </a:solidFill>
              <a:latin typeface="Telegraf Bold"/>
              <a:sym typeface="Telegraf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6749" y="2095500"/>
            <a:ext cx="16771915" cy="1985723"/>
            <a:chOff x="0" y="-9525"/>
            <a:chExt cx="11099800" cy="26476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</a:rPr>
                <a:t>Fixing Initialization ("The Hockey Stick" Loss)</a:t>
              </a:r>
              <a:endParaRPr lang="en-US" sz="2962" b="1" spc="-29" dirty="0">
                <a:solidFill>
                  <a:schemeClr val="bg1"/>
                </a:solidFill>
                <a:latin typeface="Telegraf Bold" panose="020B0604020202020204" charset="0"/>
                <a:sym typeface="Telegraf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885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  <a:ea typeface="Telegraf"/>
                  <a:cs typeface="Telegraf"/>
                  <a:sym typeface="Telegraf"/>
                </a:rPr>
                <a:t>Problem: 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With random weights, the initial loss was ~18.6, far higher than the expected uniform loss of ~3.3. This resulted in a "hockey stick" loss curve where the model wasted early epochs just squashing weights down.</a:t>
              </a:r>
            </a:p>
            <a:p>
              <a:pPr lvl="0">
                <a:lnSpc>
                  <a:spcPts val="28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Telegraf" panose="020B0604020202020204" charset="0"/>
                </a:rPr>
                <a:t>Solution: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 We scaled the output layer weights (W2) to be near-zero and biases (b2) to zero. This ensured the model started with a uniform prediction distribution.</a:t>
              </a:r>
              <a:endParaRPr lang="en-US" sz="2000" dirty="0">
                <a:solidFill>
                  <a:schemeClr val="bg1"/>
                </a:solidFill>
                <a:latin typeface="Telegraf" panose="020B0604020202020204" charset="0"/>
                <a:sym typeface="Telegraf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A1CC3BC0-0061-A5A0-877F-B6AC61646148}"/>
              </a:ext>
            </a:extLst>
          </p:cNvPr>
          <p:cNvGrpSpPr/>
          <p:nvPr/>
        </p:nvGrpSpPr>
        <p:grpSpPr>
          <a:xfrm>
            <a:off x="666748" y="4562167"/>
            <a:ext cx="16771915" cy="1626651"/>
            <a:chOff x="0" y="-9525"/>
            <a:chExt cx="11099800" cy="2168866"/>
          </a:xfrm>
        </p:grpSpPr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27379C5D-4EAF-B7DB-F446-0061337BB998}"/>
                </a:ext>
              </a:extLst>
            </p:cNvPr>
            <p:cNvSpPr txBox="1"/>
            <p:nvPr/>
          </p:nvSpPr>
          <p:spPr>
            <a:xfrm>
              <a:off x="0" y="-9525"/>
              <a:ext cx="11099800" cy="56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</a:rPr>
                <a:t>Kaiming Initialization (He Init)</a:t>
              </a:r>
              <a:endParaRPr lang="en-US" sz="2962" b="1" spc="-29" dirty="0">
                <a:solidFill>
                  <a:schemeClr val="bg1"/>
                </a:solidFill>
                <a:latin typeface="Telegraf Bold" panose="020B0604020202020204" charset="0"/>
                <a:sym typeface="Telegraf Bold"/>
              </a:endParaRPr>
            </a:p>
          </p:txBody>
        </p:sp>
        <p:sp>
          <p:nvSpPr>
            <p:cNvPr id="22" name="TextBox 5">
              <a:extLst>
                <a:ext uri="{FF2B5EF4-FFF2-40B4-BE49-F238E27FC236}">
                  <a16:creationId xmlns:a16="http://schemas.microsoft.com/office/drawing/2014/main" id="{27AF30AE-26BC-A1FE-886E-1AB4EE2DB07D}"/>
                </a:ext>
              </a:extLst>
            </p:cNvPr>
            <p:cNvSpPr txBox="1"/>
            <p:nvPr/>
          </p:nvSpPr>
          <p:spPr>
            <a:xfrm>
              <a:off x="0" y="752461"/>
              <a:ext cx="11099800" cy="140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  <a:ea typeface="Telegraf"/>
                  <a:cs typeface="Telegraf"/>
                  <a:sym typeface="Telegraf"/>
                </a:rPr>
                <a:t>Problem: 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Standard Gaussian initialization caused the variance of activations to shrink or explode deeper in the network.</a:t>
              </a:r>
            </a:p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Solution: 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We implemented Kaiming Initialization (scaling weights by gain / sqrt(</a:t>
              </a:r>
              <a:r>
                <a:rPr lang="en-US" sz="2000" dirty="0" err="1">
                  <a:solidFill>
                    <a:schemeClr val="bg1"/>
                  </a:solidFill>
                  <a:latin typeface="Telegraf" panose="020B0604020202020204" charset="0"/>
                </a:rPr>
                <a:t>fan_in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)).</a:t>
              </a:r>
            </a:p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Result: 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This keeps the variance of activations stable throughout the network, preventing the Tanh neurons from becoming "dead" (saturated).</a:t>
              </a:r>
              <a:endParaRPr lang="en-US" sz="2000" dirty="0">
                <a:solidFill>
                  <a:schemeClr val="bg1"/>
                </a:solidFill>
                <a:latin typeface="Telegraf" panose="020B0604020202020204" charset="0"/>
                <a:sym typeface="Telegraf"/>
              </a:endParaRPr>
            </a:p>
          </p:txBody>
        </p:sp>
      </p:grpSp>
      <p:grpSp>
        <p:nvGrpSpPr>
          <p:cNvPr id="23" name="Group 3">
            <a:extLst>
              <a:ext uri="{FF2B5EF4-FFF2-40B4-BE49-F238E27FC236}">
                <a16:creationId xmlns:a16="http://schemas.microsoft.com/office/drawing/2014/main" id="{8BD8786E-8A52-1FF6-0513-2E34CEA5F0E9}"/>
              </a:ext>
            </a:extLst>
          </p:cNvPr>
          <p:cNvGrpSpPr/>
          <p:nvPr/>
        </p:nvGrpSpPr>
        <p:grpSpPr>
          <a:xfrm>
            <a:off x="685970" y="6669762"/>
            <a:ext cx="16771915" cy="1985723"/>
            <a:chOff x="0" y="-9525"/>
            <a:chExt cx="11099800" cy="2647629"/>
          </a:xfrm>
        </p:grpSpPr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513535B7-DDF7-0A73-9018-2360ECAA2717}"/>
                </a:ext>
              </a:extLst>
            </p:cNvPr>
            <p:cNvSpPr txBox="1"/>
            <p:nvPr/>
          </p:nvSpPr>
          <p:spPr>
            <a:xfrm>
              <a:off x="0" y="-9525"/>
              <a:ext cx="11099800" cy="56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58"/>
                </a:lnSpc>
              </a:pPr>
              <a:r>
                <a:rPr lang="en-US" sz="2962" b="1" spc="-29" dirty="0">
                  <a:solidFill>
                    <a:schemeClr val="bg1"/>
                  </a:solidFill>
                  <a:latin typeface="Telegraf Bold" panose="020B0604020202020204" charset="0"/>
                </a:rPr>
                <a:t>Batch Normalization</a:t>
              </a:r>
              <a:endParaRPr lang="en-US" sz="2962" b="1" spc="-29" dirty="0">
                <a:solidFill>
                  <a:schemeClr val="bg1"/>
                </a:solidFill>
                <a:latin typeface="Telegraf Bold" panose="020B0604020202020204" charset="0"/>
                <a:sym typeface="Telegraf Bold"/>
              </a:endParaRPr>
            </a:p>
          </p:txBody>
        </p:sp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5DE14B35-F7F4-35D6-6E1F-3BDBDAF6B814}"/>
                </a:ext>
              </a:extLst>
            </p:cNvPr>
            <p:cNvSpPr txBox="1"/>
            <p:nvPr/>
          </p:nvSpPr>
          <p:spPr>
            <a:xfrm>
              <a:off x="0" y="752461"/>
              <a:ext cx="11099800" cy="1885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Telegraf" panose="020B0604020202020204" charset="0"/>
                </a:rPr>
                <a:t>Implementation: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 We inserted a BatchNorm1d step before the non-linearity.</a:t>
              </a:r>
            </a:p>
            <a:p>
              <a:pPr lvl="0">
                <a:lnSpc>
                  <a:spcPts val="28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Telegraf" panose="020B0604020202020204" charset="0"/>
                </a:rPr>
                <a:t>Mechanism: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 This standardizes the hidden layer inputs to have a mean of 0 and variance of 1, then scales/shifts them using learned parameters (</a:t>
              </a:r>
              <a:r>
                <a:rPr lang="en-US" sz="2000" dirty="0" err="1">
                  <a:solidFill>
                    <a:schemeClr val="bg1"/>
                  </a:solidFill>
                  <a:latin typeface="Telegraf" panose="020B0604020202020204" charset="0"/>
                </a:rPr>
                <a:t>bngain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, </a:t>
              </a:r>
              <a:r>
                <a:rPr lang="en-US" sz="2000" dirty="0" err="1">
                  <a:solidFill>
                    <a:schemeClr val="bg1"/>
                  </a:solidFill>
                  <a:latin typeface="Telegraf" panose="020B0604020202020204" charset="0"/>
                </a:rPr>
                <a:t>bnbias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).</a:t>
              </a:r>
            </a:p>
            <a:p>
              <a:pPr lvl="0">
                <a:lnSpc>
                  <a:spcPts val="2800"/>
                </a:lnSpc>
              </a:pPr>
              <a:r>
                <a:rPr lang="en-US" sz="2000" b="1" dirty="0">
                  <a:solidFill>
                    <a:schemeClr val="bg1"/>
                  </a:solidFill>
                  <a:latin typeface="Telegraf" panose="020B0604020202020204" charset="0"/>
                </a:rPr>
                <a:t>Benefit:</a:t>
              </a:r>
              <a:r>
                <a:rPr lang="en-US" sz="2000" dirty="0">
                  <a:solidFill>
                    <a:schemeClr val="bg1"/>
                  </a:solidFill>
                  <a:latin typeface="Telegraf" panose="020B0604020202020204" charset="0"/>
                </a:rPr>
                <a:t> This stabilized training significantly and removed the strong dependency on perfect weight initialization.</a:t>
              </a:r>
              <a:endParaRPr lang="en-US" sz="2000" dirty="0">
                <a:solidFill>
                  <a:schemeClr val="bg1"/>
                </a:solidFill>
                <a:latin typeface="Telegraf" panose="020B0604020202020204" charset="0"/>
                <a:sym typeface="Telegraf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15062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 dirty="0">
                <a:solidFill>
                  <a:srgbClr val="F0F7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Summary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2450306"/>
            <a:ext cx="5427383" cy="1626669"/>
            <a:chOff x="0" y="-9525"/>
            <a:chExt cx="7236511" cy="216889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0F7FF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Dataset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1406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expanded the dataset from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~6,000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to </a:t>
              </a: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~30,000 names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 providing a stronger foundation for training.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970" y="5136356"/>
            <a:ext cx="5429080" cy="3062959"/>
            <a:chOff x="0" y="-9525"/>
            <a:chExt cx="7238774" cy="408394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F0F7FF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Next Steps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5"/>
              <a:ext cx="7238774" cy="3321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With the network dynamics stabilized via Batch Norm, the next phase (Part 4) will focus on Manual Backpropagation. We will manually calculate gradients to gain a mathematical understanding of the backward pass, verifying our work against </a:t>
              </a:r>
              <a:r>
                <a:rPr lang="en-US" sz="2000" dirty="0" err="1">
                  <a:solidFill>
                    <a:schemeClr val="bg1"/>
                  </a:solidFill>
                  <a:latin typeface="Telegraf Bold" panose="020B0604020202020204" charset="0"/>
                </a:rPr>
                <a:t>PyTorch's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elegraf Bold" panose="020B0604020202020204" charset="0"/>
                </a:rPr>
                <a:t>autograd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50306"/>
            <a:ext cx="5429080" cy="2344814"/>
            <a:chOff x="0" y="-9525"/>
            <a:chExt cx="7238774" cy="312642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F0F7FF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Context-Based Encoding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2364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We encode each name into many training examples of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b="1" dirty="0">
                  <a:solidFill>
                    <a:schemeClr val="bg1"/>
                  </a:solidFill>
                  <a:latin typeface="Telegraf Bold" panose="020B0604020202020204" charset="0"/>
                </a:rPr>
                <a:t>(3-character context → next character)</a:t>
              </a: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,</a:t>
              </a:r>
              <a:b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</a:b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giving us ~159k training pairs plus separate dev and test splits.</a:t>
              </a:r>
              <a:endParaRPr lang="en-US" sz="2000" spc="-20" dirty="0">
                <a:solidFill>
                  <a:schemeClr val="bg1"/>
                </a:solidFill>
                <a:latin typeface="Telegraf Bold" panose="020B0604020202020204" charset="0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39070" y="5136356"/>
            <a:ext cx="5429080" cy="3781105"/>
            <a:chOff x="0" y="-9525"/>
            <a:chExt cx="7238774" cy="504147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F0F7FF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Challenges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4279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Managing variable name lengths during context windowing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Ensuring correct tensor shapes for embeddings, logits and loss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Handling out-of-range characters and cleaning the dataset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Maintaining training stability while tuning learning rate and other hyperparameters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170" y="2450306"/>
            <a:ext cx="5424446" cy="2703887"/>
            <a:chOff x="0" y="-9525"/>
            <a:chExt cx="7232595" cy="3605184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2595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0F7FF"/>
                  </a:solidFill>
                  <a:latin typeface="Telegraf Bold" panose="020B0604020202020204" charset="0"/>
                  <a:ea typeface="Telegraf Bold"/>
                  <a:cs typeface="Telegraf Bold"/>
                  <a:sym typeface="Telegraf Bold"/>
                </a:rPr>
                <a:t>Neural Model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2595" cy="2843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dirty="0">
                  <a:solidFill>
                    <a:schemeClr val="bg1"/>
                  </a:solidFill>
                  <a:latin typeface="Telegraf Bold" panose="020B0604020202020204" charset="0"/>
                </a:rPr>
                <a:t>The character-level MLP now includes Batch Normalization and Kaiming Initialization. It processes 3-character contexts using embeddings and a 200-neuron hidden layer to generate names with improved training stability.</a:t>
              </a:r>
              <a:endParaRPr lang="en-US" sz="2000" dirty="0">
                <a:solidFill>
                  <a:schemeClr val="bg1"/>
                </a:solidFill>
                <a:latin typeface="Telegraf Bold" panose="020B0604020202020204" charset="0"/>
                <a:sym typeface="Telegraf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4067B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D1E2FD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977</Words>
  <Application>Microsoft Office PowerPoint</Application>
  <PresentationFormat>Custom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Telegraf</vt:lpstr>
      <vt:lpstr>Calibri</vt:lpstr>
      <vt:lpstr>Arial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Makemore Project Overview</dc:title>
  <dc:description>Presentation - Makemore Project Overview</dc:description>
  <cp:lastModifiedBy>Ryan Moses</cp:lastModifiedBy>
  <cp:revision>5</cp:revision>
  <dcterms:created xsi:type="dcterms:W3CDTF">2006-08-16T00:00:00Z</dcterms:created>
  <dcterms:modified xsi:type="dcterms:W3CDTF">2025-11-24T20:12:36Z</dcterms:modified>
  <dc:identifier>DAG5lIj_AEU</dc:identifier>
</cp:coreProperties>
</file>